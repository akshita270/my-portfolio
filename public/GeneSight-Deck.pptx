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111E"/>
          </a:solidFill>
          <a:ln/>
        </p:spPr>
      </p:sp>
      <p:sp>
        <p:nvSpPr>
          <p:cNvPr id="3" name="Shape 1"/>
          <p:cNvSpPr/>
          <p:nvPr/>
        </p:nvSpPr>
        <p:spPr>
          <a:xfrm>
            <a:off x="7406640" y="-548640"/>
            <a:ext cx="2286000" cy="2286000"/>
          </a:xfrm>
          <a:prstGeom prst="ellipse">
            <a:avLst/>
          </a:prstGeom>
          <a:solidFill>
            <a:srgbClr val="00C2C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046720" y="274320"/>
            <a:ext cx="1645920" cy="1645920"/>
          </a:xfrm>
          <a:prstGeom prst="ellipse">
            <a:avLst/>
          </a:prstGeom>
          <a:solidFill>
            <a:srgbClr val="22C55E">
              <a:alpha val="9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-182880"/>
            <a:ext cx="1005840" cy="1005840"/>
          </a:xfrm>
          <a:prstGeom prst="ellipse">
            <a:avLst/>
          </a:prstGeom>
          <a:solidFill>
            <a:srgbClr val="A78BFA">
              <a:alpha val="1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80960" y="914400"/>
            <a:ext cx="822960" cy="822960"/>
          </a:xfrm>
          <a:prstGeom prst="ellipse">
            <a:avLst/>
          </a:prstGeom>
          <a:solidFill>
            <a:srgbClr val="00C2CB">
              <a:alpha val="7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-457200" y="3749040"/>
            <a:ext cx="1828800" cy="1828800"/>
          </a:xfrm>
          <a:prstGeom prst="ellipse">
            <a:avLst/>
          </a:prstGeom>
          <a:solidFill>
            <a:srgbClr val="22C55E">
              <a:alpha val="7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82880" y="4572000"/>
            <a:ext cx="1097280" cy="1097280"/>
          </a:xfrm>
          <a:prstGeom prst="ellipse">
            <a:avLst/>
          </a:prstGeom>
          <a:solidFill>
            <a:srgbClr val="00C2CB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384048"/>
            <a:ext cx="1691640" cy="274320"/>
          </a:xfrm>
          <a:prstGeom prst="roundRect">
            <a:avLst>
              <a:gd name="adj" fmla="val 50000"/>
            </a:avLst>
          </a:prstGeom>
          <a:solidFill>
            <a:srgbClr val="00C2CB">
              <a:alpha val="1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 PORTFOLIO PROJECT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02920" y="82296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GeneSight</a:t>
            </a:r>
            <a:endParaRPr lang="en-US" sz="7200" dirty="0"/>
          </a:p>
        </p:txBody>
      </p:sp>
      <p:sp>
        <p:nvSpPr>
          <p:cNvPr id="12" name="Shape 10"/>
          <p:cNvSpPr/>
          <p:nvPr/>
        </p:nvSpPr>
        <p:spPr>
          <a:xfrm>
            <a:off x="502920" y="1993392"/>
            <a:ext cx="4114800" cy="27432"/>
          </a:xfrm>
          <a:prstGeom prst="rect">
            <a:avLst/>
          </a:prstGeom>
          <a:solidFill>
            <a:srgbClr val="00C2CB">
              <a:alpha val="4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07568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 Assistant for Genomics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502920" y="2670048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research question. Get ranked, validated hypotheses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33 million+ scientific papers — in minutes.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4462272"/>
            <a:ext cx="841248" cy="274320"/>
          </a:xfrm>
          <a:prstGeom prst="roundRect">
            <a:avLst>
              <a:gd name="adj" fmla="val 20000"/>
            </a:avLst>
          </a:prstGeom>
          <a:solidFill>
            <a:srgbClr val="12284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44622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472184" y="4462272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12284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72184" y="44622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GPT-4o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834640" y="4462272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12284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34640" y="44622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Graph DB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197096" y="4462272"/>
            <a:ext cx="987552" cy="274320"/>
          </a:xfrm>
          <a:prstGeom prst="roundRect">
            <a:avLst>
              <a:gd name="adj" fmla="val 20000"/>
            </a:avLst>
          </a:prstGeom>
          <a:solidFill>
            <a:srgbClr val="12284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97096" y="4462272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312664" y="446227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2284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12664" y="44622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Clerk Auth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446227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12284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111E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65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97316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65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is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drowning in data.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502920" y="2167128"/>
            <a:ext cx="182880" cy="1828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overload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3957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33M+ papers on PubMed — 4,000 new ones added every single day.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063240"/>
            <a:ext cx="182880" cy="182880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999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Weeks, not hours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04672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literature reviews take months before a hypothesis even forms.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959352"/>
            <a:ext cx="182880" cy="1828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8953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connections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04672" y="4187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gene-disease links buried across thousands of disconnected papers.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94960" y="685800"/>
            <a:ext cx="3291840" cy="3291840"/>
          </a:xfrm>
          <a:prstGeom prst="ellipse">
            <a:avLst/>
          </a:prstGeom>
          <a:solidFill>
            <a:srgbClr val="122848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0" y="960120"/>
            <a:ext cx="2743200" cy="2743200"/>
          </a:xfrm>
          <a:prstGeom prst="ellipse">
            <a:avLst/>
          </a:prstGeom>
          <a:solidFill>
            <a:srgbClr val="0D1F38"/>
          </a:solidFill>
          <a:ln/>
        </p:spPr>
      </p:sp>
      <p:sp>
        <p:nvSpPr>
          <p:cNvPr id="17" name="Text 15"/>
          <p:cNvSpPr/>
          <p:nvPr/>
        </p:nvSpPr>
        <p:spPr>
          <a:xfrm>
            <a:off x="5303520" y="13716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33M+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5303520" y="23317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Papers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303520" y="26974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PubMed alone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1208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GeneSight reads what humans can't.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47472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C2C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47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steps to a breakthrough.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question to insight in under 5 minutes.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542032" cy="292608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2029968"/>
            <a:ext cx="530352" cy="530352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2029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4168" y="2066544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Ask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704088" y="2715768"/>
            <a:ext cx="2139696" cy="457200"/>
          </a:xfrm>
          <a:prstGeom prst="roundRect">
            <a:avLst>
              <a:gd name="adj" fmla="val 16000"/>
            </a:avLst>
          </a:prstGeom>
          <a:solidFill>
            <a:srgbClr val="00C2CB">
              <a:alpha val="13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715768"/>
            <a:ext cx="2139696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"BRCA1 and breast cancer risk?"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04088" y="3319272"/>
            <a:ext cx="2139696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any genomics question in plain language. No special syntax needed.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63240" y="224028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3182112" y="1874520"/>
            <a:ext cx="2542032" cy="292608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2029968"/>
            <a:ext cx="530352" cy="53035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3383280" y="2029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23360" y="2066544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Analyzes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3383280" y="2715768"/>
            <a:ext cx="2139696" cy="457200"/>
          </a:xfrm>
          <a:prstGeom prst="roundRect">
            <a:avLst>
              <a:gd name="adj" fmla="val 16000"/>
            </a:avLst>
          </a:prstGeom>
          <a:solidFill>
            <a:srgbClr val="A78BFA">
              <a:alpha val="13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2715768"/>
            <a:ext cx="2139696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agents search → extract → cross-check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3319272"/>
            <a:ext cx="2139696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search, entity extraction, gene enrichment, and knowledge graph — all in parallel.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742432" y="224028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5870448" y="1874520"/>
            <a:ext cx="2542032" cy="292608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71616" y="2029968"/>
            <a:ext cx="530352" cy="530352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5" name="Text 23"/>
          <p:cNvSpPr/>
          <p:nvPr/>
        </p:nvSpPr>
        <p:spPr>
          <a:xfrm>
            <a:off x="6071616" y="2029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711696" y="2066544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Discover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6071616" y="2715768"/>
            <a:ext cx="2139696" cy="457200"/>
          </a:xfrm>
          <a:prstGeom prst="roundRect">
            <a:avLst>
              <a:gd name="adj" fmla="val 16000"/>
            </a:avLst>
          </a:prstGeom>
          <a:solidFill>
            <a:srgbClr val="22C55E">
              <a:alpha val="13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6071616" y="2715768"/>
            <a:ext cx="2139696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ranked hypotheses + evidence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071616" y="3319272"/>
            <a:ext cx="2139696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confidence-scored hypotheses, supporting papers, and a visual knowledge graph.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111E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A78BFA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474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8-Agent AI Pipeline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runs through 8 specialised AI agents working in sequence and in parallel.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011680" cy="1298448"/>
          </a:xfrm>
          <a:prstGeom prst="roundRect">
            <a:avLst>
              <a:gd name="adj" fmla="val 7042"/>
            </a:avLst>
          </a:prstGeom>
          <a:solidFill>
            <a:srgbClr val="0D1F38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9224" y="2002536"/>
            <a:ext cx="347472" cy="347472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2002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7280" y="1984248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Planner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9224" y="2478024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breaks down query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468880" y="2295144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606040" y="1874520"/>
            <a:ext cx="2011680" cy="1298448"/>
          </a:xfrm>
          <a:prstGeom prst="roundRect">
            <a:avLst>
              <a:gd name="adj" fmla="val 7042"/>
            </a:avLst>
          </a:prstGeom>
          <a:solidFill>
            <a:srgbClr val="0D1F38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52344" y="2002536"/>
            <a:ext cx="347472" cy="347472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15" name="Text 13"/>
          <p:cNvSpPr/>
          <p:nvPr/>
        </p:nvSpPr>
        <p:spPr>
          <a:xfrm>
            <a:off x="2752344" y="2002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1984248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752344" y="2478024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33M PubMed papers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72000" y="2295144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1874520"/>
            <a:ext cx="2011680" cy="1298448"/>
          </a:xfrm>
          <a:prstGeom prst="roundRect">
            <a:avLst>
              <a:gd name="adj" fmla="val 7042"/>
            </a:avLst>
          </a:prstGeom>
          <a:solidFill>
            <a:srgbClr val="0D1F38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55464" y="2002536"/>
            <a:ext cx="347472" cy="347472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21" name="Text 19"/>
          <p:cNvSpPr/>
          <p:nvPr/>
        </p:nvSpPr>
        <p:spPr>
          <a:xfrm>
            <a:off x="4855464" y="2002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03520" y="1984248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55464" y="2478024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genes &amp; diseases via NER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675120" y="2295144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812280" y="1874520"/>
            <a:ext cx="2011680" cy="1298448"/>
          </a:xfrm>
          <a:prstGeom prst="roundRect">
            <a:avLst>
              <a:gd name="adj" fmla="val 7042"/>
            </a:avLst>
          </a:prstGeom>
          <a:solidFill>
            <a:srgbClr val="0D1F38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58584" y="2002536"/>
            <a:ext cx="347472" cy="347472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27" name="Text 25"/>
          <p:cNvSpPr/>
          <p:nvPr/>
        </p:nvSpPr>
        <p:spPr>
          <a:xfrm>
            <a:off x="6958584" y="2002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06640" y="1984248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Genomics DB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958584" y="2478024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NCBI + UniProt enrichment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3337560"/>
            <a:ext cx="2011680" cy="1298448"/>
          </a:xfrm>
          <a:prstGeom prst="roundRect">
            <a:avLst>
              <a:gd name="adj" fmla="val 7042"/>
            </a:avLst>
          </a:prstGeom>
          <a:solidFill>
            <a:srgbClr val="0D1F38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9224" y="3465576"/>
            <a:ext cx="347472" cy="34747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97280" y="3447288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9224" y="3941064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gene-disease network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468880" y="3758184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2606040" y="3337560"/>
            <a:ext cx="2011680" cy="1298448"/>
          </a:xfrm>
          <a:prstGeom prst="roundRect">
            <a:avLst>
              <a:gd name="adj" fmla="val 7042"/>
            </a:avLst>
          </a:prstGeom>
          <a:solidFill>
            <a:srgbClr val="0D1F38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52344" y="3465576"/>
            <a:ext cx="347472" cy="34747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38" name="Text 36"/>
          <p:cNvSpPr/>
          <p:nvPr/>
        </p:nvSpPr>
        <p:spPr>
          <a:xfrm>
            <a:off x="2752344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200400" y="3447288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Gen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752344" y="3941064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creates ranked hypotheses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0" y="3758184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4709160" y="3337560"/>
            <a:ext cx="2011680" cy="1298448"/>
          </a:xfrm>
          <a:prstGeom prst="roundRect">
            <a:avLst>
              <a:gd name="adj" fmla="val 7042"/>
            </a:avLst>
          </a:prstGeom>
          <a:solidFill>
            <a:srgbClr val="0D1F38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55464" y="3465576"/>
            <a:ext cx="347472" cy="34747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44" name="Text 42"/>
          <p:cNvSpPr/>
          <p:nvPr/>
        </p:nvSpPr>
        <p:spPr>
          <a:xfrm>
            <a:off x="4855464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303520" y="3447288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4855464" y="3941064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Evidence-checks each hypothesis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675120" y="3758184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48" name="Shape 46"/>
          <p:cNvSpPr/>
          <p:nvPr/>
        </p:nvSpPr>
        <p:spPr>
          <a:xfrm>
            <a:off x="6812280" y="3337560"/>
            <a:ext cx="2011680" cy="1298448"/>
          </a:xfrm>
          <a:prstGeom prst="roundRect">
            <a:avLst>
              <a:gd name="adj" fmla="val 7042"/>
            </a:avLst>
          </a:prstGeom>
          <a:solidFill>
            <a:srgbClr val="0D1F38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958584" y="3465576"/>
            <a:ext cx="347472" cy="347472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0" name="Text 48"/>
          <p:cNvSpPr/>
          <p:nvPr/>
        </p:nvSpPr>
        <p:spPr>
          <a:xfrm>
            <a:off x="6958584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406640" y="3447288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6958584" y="3941064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findings + score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35240" y="317296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502920" y="4800600"/>
            <a:ext cx="2194560" cy="246888"/>
          </a:xfrm>
          <a:prstGeom prst="roundRect">
            <a:avLst>
              <a:gd name="adj" fmla="val 37037"/>
            </a:avLst>
          </a:prstGeom>
          <a:solidFill>
            <a:srgbClr val="22C55E">
              <a:alpha val="18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502920" y="4800600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Parallel execution via asyncio.gather()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47472"/>
            <a:ext cx="1508760" cy="274320"/>
          </a:xfrm>
          <a:prstGeom prst="roundRect">
            <a:avLst>
              <a:gd name="adj" fmla="val 50000"/>
            </a:avLst>
          </a:prstGeom>
          <a:solidFill>
            <a:srgbClr val="22C55E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474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researchers actually see.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493776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4937760" cy="640080"/>
          </a:xfrm>
          <a:prstGeom prst="roundRect">
            <a:avLst>
              <a:gd name="adj" fmla="val 20000"/>
            </a:avLst>
          </a:prstGeom>
          <a:solidFill>
            <a:srgbClr val="22C55E">
              <a:alpha val="9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2066544"/>
            <a:ext cx="4937760" cy="128016"/>
          </a:xfrm>
          <a:prstGeom prst="rect">
            <a:avLst/>
          </a:prstGeom>
          <a:solidFill>
            <a:srgbClr val="22C55E">
              <a:alpha val="9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6276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#1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23360" y="1664208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8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023360" y="16642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Confidence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2304288"/>
            <a:ext cx="1005840" cy="256032"/>
          </a:xfrm>
          <a:prstGeom prst="roundRect">
            <a:avLst>
              <a:gd name="adj" fmla="val 35714"/>
            </a:avLst>
          </a:prstGeom>
          <a:solidFill>
            <a:srgbClr val="22C55E">
              <a:alpha val="2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30428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Strong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2633472"/>
            <a:ext cx="4572000" cy="8046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"BRCA1 deficiency activates alternative end-joining pathways</a:t>
            </a:r>
            <a:endParaRPr lang="en-US" sz="12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increase genomic instability in breast cancer cells."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358444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5800" y="38404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BRCA1, TP53, RAD51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40280" y="358444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240280" y="38404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supporting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794760" y="358444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794760" y="38404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Damage Repair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" y="4297680"/>
            <a:ext cx="4572000" cy="128016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</p:sp>
      <p:sp>
        <p:nvSpPr>
          <p:cNvPr id="22" name="Shape 20"/>
          <p:cNvSpPr/>
          <p:nvPr/>
        </p:nvSpPr>
        <p:spPr>
          <a:xfrm>
            <a:off x="685800" y="4297680"/>
            <a:ext cx="3977640" cy="12801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462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strength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23560" y="15727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 included: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623560" y="2057400"/>
            <a:ext cx="3200400" cy="804672"/>
          </a:xfrm>
          <a:prstGeom prst="roundRect">
            <a:avLst>
              <a:gd name="adj" fmla="val 11364"/>
            </a:avLst>
          </a:prstGeom>
          <a:solidFill>
            <a:srgbClr val="00C2CB">
              <a:alpha val="8000"/>
            </a:srgbClr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51576" y="2130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172200" y="21122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72200" y="240487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D3 gene-disease-protein network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23560" y="3017520"/>
            <a:ext cx="3200400" cy="804672"/>
          </a:xfrm>
          <a:prstGeom prst="roundRect">
            <a:avLst>
              <a:gd name="adj" fmla="val 11364"/>
            </a:avLst>
          </a:prstGeom>
          <a:solidFill>
            <a:srgbClr val="A78BFA">
              <a:alpha val="8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5157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172200" y="3072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Papers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33649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paper linked to the hypothesis that supports it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23560" y="3977640"/>
            <a:ext cx="3200400" cy="804672"/>
          </a:xfrm>
          <a:prstGeom prst="roundRect">
            <a:avLst>
              <a:gd name="adj" fmla="val 11364"/>
            </a:avLst>
          </a:prstGeom>
          <a:solidFill>
            <a:srgbClr val="F97316">
              <a:alpha val="8000"/>
            </a:srgbClr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51576" y="4050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17220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Score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172200" y="432511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 overall analysis score with per-agent trace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111E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474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00C2C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4747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with the best tools for the job.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A78BFA">
              <a:alpha val="22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508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Intelligence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029968"/>
            <a:ext cx="2606040" cy="804672"/>
          </a:xfrm>
          <a:prstGeom prst="roundRect">
            <a:avLst>
              <a:gd name="adj" fmla="val 11364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2996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10312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GPT-4o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2432304"/>
            <a:ext cx="2350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generation &amp; validation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2990088"/>
            <a:ext cx="2606040" cy="804672"/>
          </a:xfrm>
          <a:prstGeom prst="roundRect">
            <a:avLst>
              <a:gd name="adj" fmla="val 11364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9008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6324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/ LangGraph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3392424"/>
            <a:ext cx="2350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 framework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950208"/>
            <a:ext cx="2606040" cy="804672"/>
          </a:xfrm>
          <a:prstGeom prst="roundRect">
            <a:avLst>
              <a:gd name="adj" fmla="val 11364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395020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402336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Biopython Entrez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352544"/>
            <a:ext cx="2350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 literature retrieval API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73552" y="150876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00C2CB">
              <a:alpha val="2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273552" y="1508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Storage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73552" y="2029968"/>
            <a:ext cx="2606040" cy="804672"/>
          </a:xfrm>
          <a:prstGeom prst="roundRect">
            <a:avLst>
              <a:gd name="adj" fmla="val 11364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73552" y="202996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00C2CB"/>
          </a:solidFill>
          <a:ln/>
        </p:spPr>
      </p:sp>
      <p:sp>
        <p:nvSpPr>
          <p:cNvPr id="24" name="Text 22"/>
          <p:cNvSpPr/>
          <p:nvPr/>
        </p:nvSpPr>
        <p:spPr>
          <a:xfrm>
            <a:off x="3456432" y="210312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AuraDB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56432" y="2432304"/>
            <a:ext cx="2350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— genes, diseases, proteins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73552" y="2990088"/>
            <a:ext cx="2606040" cy="804672"/>
          </a:xfrm>
          <a:prstGeom prst="roundRect">
            <a:avLst>
              <a:gd name="adj" fmla="val 11364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73552" y="299008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00C2CB"/>
          </a:solidFill>
          <a:ln/>
        </p:spPr>
      </p:sp>
      <p:sp>
        <p:nvSpPr>
          <p:cNvPr id="28" name="Text 26"/>
          <p:cNvSpPr/>
          <p:nvPr/>
        </p:nvSpPr>
        <p:spPr>
          <a:xfrm>
            <a:off x="3456432" y="306324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PostgreSQL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56432" y="3392424"/>
            <a:ext cx="2350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history, rate limits, auth state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73552" y="3950208"/>
            <a:ext cx="2606040" cy="804672"/>
          </a:xfrm>
          <a:prstGeom prst="roundRect">
            <a:avLst>
              <a:gd name="adj" fmla="val 11364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73552" y="395020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00C2CB"/>
          </a:solidFill>
          <a:ln/>
        </p:spPr>
      </p:sp>
      <p:sp>
        <p:nvSpPr>
          <p:cNvPr id="32" name="Text 30"/>
          <p:cNvSpPr/>
          <p:nvPr/>
        </p:nvSpPr>
        <p:spPr>
          <a:xfrm>
            <a:off x="3456432" y="402336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NCBI Gene + UniProt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456432" y="4352544"/>
            <a:ext cx="2350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databases enrichment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035040" y="1508760"/>
            <a:ext cx="2606040" cy="411480"/>
          </a:xfrm>
          <a:prstGeom prst="roundRect">
            <a:avLst>
              <a:gd name="adj" fmla="val 22222"/>
            </a:avLst>
          </a:prstGeom>
          <a:solidFill>
            <a:srgbClr val="22C55E">
              <a:alpha val="2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6035040" y="1508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&amp; Infrastructure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035040" y="2029968"/>
            <a:ext cx="2606040" cy="804672"/>
          </a:xfrm>
          <a:prstGeom prst="roundRect">
            <a:avLst>
              <a:gd name="adj" fmla="val 11364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35040" y="202996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210312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217920" y="2432304"/>
            <a:ext cx="2350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Python REST API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035040" y="2990088"/>
            <a:ext cx="2606040" cy="804672"/>
          </a:xfrm>
          <a:prstGeom prst="roundRect">
            <a:avLst>
              <a:gd name="adj" fmla="val 11364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35040" y="299008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42" name="Text 40"/>
          <p:cNvSpPr/>
          <p:nvPr/>
        </p:nvSpPr>
        <p:spPr>
          <a:xfrm>
            <a:off x="6217920" y="306324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Clerk Auth (RS256)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217920" y="3392424"/>
            <a:ext cx="2350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JWKS-cached, SSR-safe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35040" y="3950208"/>
            <a:ext cx="2606040" cy="804672"/>
          </a:xfrm>
          <a:prstGeom prst="roundRect">
            <a:avLst>
              <a:gd name="adj" fmla="val 11364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035040" y="395020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46" name="Text 44"/>
          <p:cNvSpPr/>
          <p:nvPr/>
        </p:nvSpPr>
        <p:spPr>
          <a:xfrm>
            <a:off x="6217920" y="402336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217920" y="4352544"/>
            <a:ext cx="2350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CDN &amp; serverless deployment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47472"/>
            <a:ext cx="1691640" cy="274320"/>
          </a:xfrm>
          <a:prstGeom prst="roundRect">
            <a:avLst>
              <a:gd name="adj" fmla="val 50000"/>
            </a:avLst>
          </a:prstGeom>
          <a:solidFill>
            <a:srgbClr val="F97316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474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DEPTH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Production-grade, not just a demo.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581912"/>
            <a:ext cx="26517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81912"/>
            <a:ext cx="73152" cy="1078992"/>
          </a:xfrm>
          <a:prstGeom prst="roundRect">
            <a:avLst>
              <a:gd name="adj" fmla="val 62500"/>
            </a:avLst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667512" y="1709928"/>
            <a:ext cx="438912" cy="438912"/>
          </a:xfrm>
          <a:prstGeom prst="ellipse">
            <a:avLst/>
          </a:prstGeom>
          <a:solidFill>
            <a:srgbClr val="F97316">
              <a:alpha val="1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67512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16152" y="16733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Guard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" y="22037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adversarial inputs before they reach any LLM call.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73552" y="1581912"/>
            <a:ext cx="26517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73552" y="1581912"/>
            <a:ext cx="73152" cy="1078992"/>
          </a:xfrm>
          <a:prstGeom prst="roundRect">
            <a:avLst>
              <a:gd name="adj" fmla="val 62500"/>
            </a:avLst>
          </a:prstGeom>
          <a:solidFill>
            <a:srgbClr val="00C2CB"/>
          </a:solidFill>
          <a:ln/>
        </p:spPr>
      </p:sp>
      <p:sp>
        <p:nvSpPr>
          <p:cNvPr id="14" name="Shape 12"/>
          <p:cNvSpPr/>
          <p:nvPr/>
        </p:nvSpPr>
        <p:spPr>
          <a:xfrm>
            <a:off x="3438144" y="1709928"/>
            <a:ext cx="438912" cy="438912"/>
          </a:xfrm>
          <a:prstGeom prst="ellipse">
            <a:avLst/>
          </a:prstGeom>
          <a:solidFill>
            <a:srgbClr val="00C2CB">
              <a:alpha val="18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438144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986784" y="16733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Check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38144" y="22037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gene verified against NCBI Gene database in real-time.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1581912"/>
            <a:ext cx="26517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1581912"/>
            <a:ext cx="73152" cy="1078992"/>
          </a:xfrm>
          <a:prstGeom prst="roundRect">
            <a:avLst>
              <a:gd name="adj" fmla="val 62500"/>
            </a:avLst>
          </a:prstGeom>
          <a:solidFill>
            <a:srgbClr val="22C55E"/>
          </a:solidFill>
          <a:ln/>
        </p:spPr>
      </p:sp>
      <p:sp>
        <p:nvSpPr>
          <p:cNvPr id="20" name="Shape 18"/>
          <p:cNvSpPr/>
          <p:nvPr/>
        </p:nvSpPr>
        <p:spPr>
          <a:xfrm>
            <a:off x="6199632" y="1709928"/>
            <a:ext cx="438912" cy="438912"/>
          </a:xfrm>
          <a:prstGeom prst="ellipse">
            <a:avLst/>
          </a:prstGeom>
          <a:solidFill>
            <a:srgbClr val="22C55E">
              <a:alpha val="18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48272" y="16733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Validation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99632" y="22037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reads each paper — rejects unsupported hypotheses.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2834640"/>
            <a:ext cx="26517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2834640"/>
            <a:ext cx="73152" cy="1078992"/>
          </a:xfrm>
          <a:prstGeom prst="roundRect">
            <a:avLst>
              <a:gd name="adj" fmla="val 62500"/>
            </a:avLst>
          </a:prstGeom>
          <a:solidFill>
            <a:srgbClr val="A78BFA"/>
          </a:solidFill>
          <a:ln/>
        </p:spPr>
      </p:sp>
      <p:sp>
        <p:nvSpPr>
          <p:cNvPr id="26" name="Shape 24"/>
          <p:cNvSpPr/>
          <p:nvPr/>
        </p:nvSpPr>
        <p:spPr>
          <a:xfrm>
            <a:off x="667512" y="2962656"/>
            <a:ext cx="438912" cy="438912"/>
          </a:xfrm>
          <a:prstGeom prst="ellipse">
            <a:avLst/>
          </a:prstGeom>
          <a:solidFill>
            <a:srgbClr val="A78BFA">
              <a:alpha val="18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29626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16152" y="29260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7512" y="34564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Auto-recover from OpenAI / NCBI / Neo4j failures. No cascades.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73552" y="2834640"/>
            <a:ext cx="26517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73552" y="2834640"/>
            <a:ext cx="73152" cy="1078992"/>
          </a:xfrm>
          <a:prstGeom prst="roundRect">
            <a:avLst>
              <a:gd name="adj" fmla="val 62500"/>
            </a:avLst>
          </a:prstGeom>
          <a:solidFill>
            <a:srgbClr val="F97316"/>
          </a:solidFill>
          <a:ln/>
        </p:spPr>
      </p:sp>
      <p:sp>
        <p:nvSpPr>
          <p:cNvPr id="32" name="Shape 30"/>
          <p:cNvSpPr/>
          <p:nvPr/>
        </p:nvSpPr>
        <p:spPr>
          <a:xfrm>
            <a:off x="3438144" y="2962656"/>
            <a:ext cx="438912" cy="438912"/>
          </a:xfrm>
          <a:prstGeom prst="ellipse">
            <a:avLst/>
          </a:prstGeom>
          <a:solidFill>
            <a:srgbClr val="F97316">
              <a:alpha val="18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3438144" y="29626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986784" y="29260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Rate Limiting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438144" y="34564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Clerk RS256 JWT with JWKS caching. 10 req/min IP throttle.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35040" y="2834640"/>
            <a:ext cx="26517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35040" y="2834640"/>
            <a:ext cx="73152" cy="1078992"/>
          </a:xfrm>
          <a:prstGeom prst="roundRect">
            <a:avLst>
              <a:gd name="adj" fmla="val 62500"/>
            </a:avLst>
          </a:prstGeom>
          <a:solidFill>
            <a:srgbClr val="00C2CB"/>
          </a:solidFill>
          <a:ln/>
        </p:spPr>
      </p:sp>
      <p:sp>
        <p:nvSpPr>
          <p:cNvPr id="38" name="Shape 36"/>
          <p:cNvSpPr/>
          <p:nvPr/>
        </p:nvSpPr>
        <p:spPr>
          <a:xfrm>
            <a:off x="6199632" y="2962656"/>
            <a:ext cx="438912" cy="438912"/>
          </a:xfrm>
          <a:prstGeom prst="ellipse">
            <a:avLst/>
          </a:prstGeom>
          <a:solidFill>
            <a:srgbClr val="00C2CB">
              <a:alpha val="18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99632" y="29626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748272" y="29260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Caching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199632" y="34564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queries return in &lt;10ms. No duplicate LLM spend.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111E"/>
          </a:solidFill>
          <a:ln/>
        </p:spPr>
      </p:sp>
      <p:sp>
        <p:nvSpPr>
          <p:cNvPr id="3" name="Shape 1"/>
          <p:cNvSpPr/>
          <p:nvPr/>
        </p:nvSpPr>
        <p:spPr>
          <a:xfrm>
            <a:off x="-457200" y="-457200"/>
            <a:ext cx="2743200" cy="2743200"/>
          </a:xfrm>
          <a:prstGeom prst="ellipse">
            <a:avLst/>
          </a:prstGeom>
          <a:solidFill>
            <a:srgbClr val="00C2CB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22C55E">
              <a:alpha val="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347472"/>
            <a:ext cx="1508760" cy="274320"/>
          </a:xfrm>
          <a:prstGeom prst="roundRect">
            <a:avLst>
              <a:gd name="adj" fmla="val 50000"/>
            </a:avLst>
          </a:prstGeom>
          <a:solidFill>
            <a:srgbClr val="22C55E">
              <a:alpha val="2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474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7498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that speaks for itself.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1572768"/>
            <a:ext cx="3749040" cy="1417320"/>
          </a:xfrm>
          <a:prstGeom prst="roundRect">
            <a:avLst>
              <a:gd name="adj" fmla="val 9032"/>
            </a:avLst>
          </a:prstGeom>
          <a:solidFill>
            <a:srgbClr val="0D1F38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572768"/>
            <a:ext cx="3749040" cy="91440"/>
          </a:xfrm>
          <a:prstGeom prst="roundRect">
            <a:avLst>
              <a:gd name="adj" fmla="val 70000"/>
            </a:avLst>
          </a:prstGeom>
          <a:solidFill>
            <a:srgbClr val="00C2CB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64208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33M+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2651760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searchable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1760" y="22311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NCBI Entrez API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62272" y="1572768"/>
            <a:ext cx="3749040" cy="1417320"/>
          </a:xfrm>
          <a:prstGeom prst="roundRect">
            <a:avLst>
              <a:gd name="adj" fmla="val 9032"/>
            </a:avLst>
          </a:prstGeom>
          <a:solidFill>
            <a:srgbClr val="0D1F38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572768"/>
            <a:ext cx="3749040" cy="91440"/>
          </a:xfrm>
          <a:prstGeom prst="roundRect">
            <a:avLst>
              <a:gd name="adj" fmla="val 70000"/>
            </a:avLst>
          </a:prstGeom>
          <a:solidFill>
            <a:srgbClr val="A78BFA"/>
          </a:solidFill>
          <a:ln/>
        </p:spPr>
      </p:sp>
      <p:sp>
        <p:nvSpPr>
          <p:cNvPr id="15" name="Text 13"/>
          <p:cNvSpPr/>
          <p:nvPr/>
        </p:nvSpPr>
        <p:spPr>
          <a:xfrm>
            <a:off x="4690872" y="1664208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6611112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11112" y="22311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async pipeline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3218688"/>
            <a:ext cx="3749040" cy="1417320"/>
          </a:xfrm>
          <a:prstGeom prst="roundRect">
            <a:avLst>
              <a:gd name="adj" fmla="val 9032"/>
            </a:avLst>
          </a:prstGeom>
          <a:solidFill>
            <a:srgbClr val="0D1F38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218688"/>
            <a:ext cx="3749040" cy="91440"/>
          </a:xfrm>
          <a:prstGeom prst="roundRect">
            <a:avLst>
              <a:gd name="adj" fmla="val 70000"/>
            </a:avLst>
          </a:prstGeom>
          <a:solidFill>
            <a:srgbClr val="22C55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310128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5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2651760" y="3474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651760" y="387705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per query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62272" y="3218688"/>
            <a:ext cx="3749040" cy="1417320"/>
          </a:xfrm>
          <a:prstGeom prst="roundRect">
            <a:avLst>
              <a:gd name="adj" fmla="val 9032"/>
            </a:avLst>
          </a:prstGeom>
          <a:solidFill>
            <a:srgbClr val="0D1F38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62272" y="3218688"/>
            <a:ext cx="3749040" cy="91440"/>
          </a:xfrm>
          <a:prstGeom prst="roundRect">
            <a:avLst>
              <a:gd name="adj" fmla="val 70000"/>
            </a:avLst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4690872" y="3310128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5400" dirty="0"/>
          </a:p>
        </p:txBody>
      </p:sp>
      <p:sp>
        <p:nvSpPr>
          <p:cNvPr id="26" name="Text 24"/>
          <p:cNvSpPr/>
          <p:nvPr/>
        </p:nvSpPr>
        <p:spPr>
          <a:xfrm>
            <a:off x="6611112" y="3474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requests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11112" y="387705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NCBI + UniProt, same gather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47472"/>
            <a:ext cx="1691640" cy="274320"/>
          </a:xfrm>
          <a:prstGeom prst="roundRect">
            <a:avLst>
              <a:gd name="adj" fmla="val 50000"/>
            </a:avLst>
          </a:prstGeom>
          <a:solidFill>
            <a:srgbClr val="00C2C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474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Full-stack architecture overview.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542032" cy="324612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2542032" cy="685800"/>
          </a:xfrm>
          <a:prstGeom prst="roundRect">
            <a:avLst>
              <a:gd name="adj" fmla="val 18667"/>
            </a:avLst>
          </a:prstGeom>
          <a:solidFill>
            <a:srgbClr val="A78BFA">
              <a:alpha val="9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2121408"/>
            <a:ext cx="2542032" cy="118872"/>
          </a:xfrm>
          <a:prstGeom prst="rect">
            <a:avLst/>
          </a:prstGeom>
          <a:solidFill>
            <a:srgbClr val="A78BFA">
              <a:alpha val="9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67512" y="1600200"/>
            <a:ext cx="22128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7512" y="1938528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67512" y="2505456"/>
            <a:ext cx="109728" cy="109728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404872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JS + D3.js force graph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7512" y="3072384"/>
            <a:ext cx="109728" cy="109728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971800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Clerk hosted login UI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67512" y="3639312"/>
            <a:ext cx="109728" cy="109728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538728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SSE progress stream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67512" y="4206240"/>
            <a:ext cx="109728" cy="109728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105656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Gene-disease interactive graph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090672" y="2724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3401568" y="1554480"/>
            <a:ext cx="2542032" cy="324612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01568" y="1554480"/>
            <a:ext cx="2542032" cy="685800"/>
          </a:xfrm>
          <a:prstGeom prst="roundRect">
            <a:avLst>
              <a:gd name="adj" fmla="val 18667"/>
            </a:avLst>
          </a:prstGeom>
          <a:solidFill>
            <a:srgbClr val="00C2CB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401568" y="2121408"/>
            <a:ext cx="2542032" cy="118872"/>
          </a:xfrm>
          <a:prstGeom prst="rect">
            <a:avLst/>
          </a:prstGeom>
          <a:solidFill>
            <a:srgbClr val="00C2CB">
              <a:alpha val="9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566160" y="1600200"/>
            <a:ext cx="22128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566160" y="1938528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on HF Spaces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566160" y="2505456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26" name="Text 24"/>
          <p:cNvSpPr/>
          <p:nvPr/>
        </p:nvSpPr>
        <p:spPr>
          <a:xfrm>
            <a:off x="3767328" y="2404872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8-agent async pipeline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566160" y="3072384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28" name="Text 26"/>
          <p:cNvSpPr/>
          <p:nvPr/>
        </p:nvSpPr>
        <p:spPr>
          <a:xfrm>
            <a:off x="3767328" y="2971800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(RS256, JWKS-cached)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566160" y="3639312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30" name="Text 28"/>
          <p:cNvSpPr/>
          <p:nvPr/>
        </p:nvSpPr>
        <p:spPr>
          <a:xfrm>
            <a:off x="3767328" y="3538728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breakers + rate limiter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566160" y="4206240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32" name="Text 30"/>
          <p:cNvSpPr/>
          <p:nvPr/>
        </p:nvSpPr>
        <p:spPr>
          <a:xfrm>
            <a:off x="3767328" y="4105656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cache + per-agent tracer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989320" y="2724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291072" y="1554480"/>
            <a:ext cx="2542032" cy="324612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072" y="1554480"/>
            <a:ext cx="2542032" cy="685800"/>
          </a:xfrm>
          <a:prstGeom prst="roundRect">
            <a:avLst>
              <a:gd name="adj" fmla="val 18667"/>
            </a:avLst>
          </a:prstGeom>
          <a:solidFill>
            <a:srgbClr val="22C55E">
              <a:alpha val="9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291072" y="2121408"/>
            <a:ext cx="2542032" cy="118872"/>
          </a:xfrm>
          <a:prstGeom prst="rect">
            <a:avLst/>
          </a:prstGeom>
          <a:solidFill>
            <a:srgbClr val="22C55E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6455664" y="1600200"/>
            <a:ext cx="22128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Layer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6455664" y="1938528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services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55664" y="2505456"/>
            <a:ext cx="109728" cy="10972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40" name="Text 38"/>
          <p:cNvSpPr/>
          <p:nvPr/>
        </p:nvSpPr>
        <p:spPr>
          <a:xfrm>
            <a:off x="6656832" y="2404872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AuraDB — knowledge graph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55664" y="3072384"/>
            <a:ext cx="109728" cy="10972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42" name="Text 40"/>
          <p:cNvSpPr/>
          <p:nvPr/>
        </p:nvSpPr>
        <p:spPr>
          <a:xfrm>
            <a:off x="6656832" y="2971800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PostgreSQL — user data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455664" y="3639312"/>
            <a:ext cx="109728" cy="10972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44" name="Text 42"/>
          <p:cNvSpPr/>
          <p:nvPr/>
        </p:nvSpPr>
        <p:spPr>
          <a:xfrm>
            <a:off x="6656832" y="3538728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NCBI Entrez — 33M papers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55664" y="4206240"/>
            <a:ext cx="109728" cy="10972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46" name="Text 44"/>
          <p:cNvSpPr/>
          <p:nvPr/>
        </p:nvSpPr>
        <p:spPr>
          <a:xfrm>
            <a:off x="6656832" y="4105656"/>
            <a:ext cx="2039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UniProt — protein metadata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111E"/>
          </a:solidFill>
          <a:ln/>
        </p:spPr>
      </p:sp>
      <p:sp>
        <p:nvSpPr>
          <p:cNvPr id="3" name="Shape 1"/>
          <p:cNvSpPr/>
          <p:nvPr/>
        </p:nvSpPr>
        <p:spPr>
          <a:xfrm>
            <a:off x="6583680" y="-731520"/>
            <a:ext cx="3200400" cy="3200400"/>
          </a:xfrm>
          <a:prstGeom prst="ellipse">
            <a:avLst/>
          </a:prstGeom>
          <a:solidFill>
            <a:srgbClr val="00C2CB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498080" y="1371600"/>
            <a:ext cx="2286000" cy="2286000"/>
          </a:xfrm>
          <a:prstGeom prst="ellipse">
            <a:avLst/>
          </a:prstGeom>
          <a:solidFill>
            <a:srgbClr val="22C55E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731520" y="3200400"/>
            <a:ext cx="2743200" cy="2743200"/>
          </a:xfrm>
          <a:prstGeom prst="ellipse">
            <a:avLst/>
          </a:prstGeom>
          <a:solidFill>
            <a:srgbClr val="A78BFA">
              <a:alpha val="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572000"/>
            <a:ext cx="1371600" cy="1371600"/>
          </a:xfrm>
          <a:prstGeom prst="ellipse">
            <a:avLst/>
          </a:prstGeom>
          <a:solidFill>
            <a:srgbClr val="00C2CB">
              <a:alpha val="1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685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Akshita.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02920" y="17373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GeneSight is a full-stack AI system — async FastAPI, 8-agent LLM pipeline,</a:t>
            </a:r>
            <a:endParaRPr lang="en-US" sz="135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knowledge graph, and a live Vercel frontend. Production-grade from day one.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834640"/>
            <a:ext cx="777240" cy="274320"/>
          </a:xfrm>
          <a:prstGeom prst="roundRect">
            <a:avLst>
              <a:gd name="adj" fmla="val 33333"/>
            </a:avLst>
          </a:prstGeom>
          <a:solidFill>
            <a:srgbClr val="00C2CB">
              <a:alpha val="2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389888" y="2834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gene-sight-seven.vercel.app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456432"/>
            <a:ext cx="777240" cy="274320"/>
          </a:xfrm>
          <a:prstGeom prst="roundRect">
            <a:avLst>
              <a:gd name="adj" fmla="val 33333"/>
            </a:avLst>
          </a:prstGeom>
          <a:solidFill>
            <a:srgbClr val="22C55E">
              <a:alpha val="2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4564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389888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github.com/akshita270/GeneSight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4078224"/>
            <a:ext cx="777240" cy="274320"/>
          </a:xfrm>
          <a:prstGeom prst="roundRect">
            <a:avLst>
              <a:gd name="adj" fmla="val 33333"/>
            </a:avLst>
          </a:prstGeom>
          <a:solidFill>
            <a:srgbClr val="A78BFA">
              <a:alpha val="2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07822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389888" y="40782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jakshita770@gmail.com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663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"Turn 33 million papers into one clear answer."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2026-08-20T16:49:08Z</dcterms:created>
  <dcterms:modified xsi:type="dcterms:W3CDTF">2026-08-20T16:49:08Z</dcterms:modified>
</cp:coreProperties>
</file>